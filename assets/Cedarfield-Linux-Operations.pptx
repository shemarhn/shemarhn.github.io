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0328787eca42a9" /><Relationship Type="http://schemas.openxmlformats.org/officeDocument/2006/relationships/extended-properties" Target="/docProps/app.xml" Id="R17b23dbc44664e9a" /><Relationship Type="http://schemas.openxmlformats.org/officeDocument/2006/relationships/officeDocument" Target="/ppt/presentation.xml" Id="R7aaa8b77d38049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ecb4f5c5dd4b58"/>
  </p:sldMasterIdLst>
  <p:notesMasterIdLst>
    <p:notesMasterId xmlns:r="http://schemas.openxmlformats.org/officeDocument/2006/relationships" r:id="Re8bddf7223624b17"/>
  </p:notesMasterIdLst>
  <p:sldIdLst>
    <p:sldId xmlns:r="http://schemas.openxmlformats.org/officeDocument/2006/relationships" id="256" r:id="R268559e99b214b86"/>
    <p:sldId xmlns:r="http://schemas.openxmlformats.org/officeDocument/2006/relationships" id="257" r:id="R410bd060d6024468"/>
    <p:sldId xmlns:r="http://schemas.openxmlformats.org/officeDocument/2006/relationships" id="258" r:id="R1f31dcbaea804373"/>
    <p:sldId xmlns:r="http://schemas.openxmlformats.org/officeDocument/2006/relationships" id="259" r:id="Ra118ab0f0ab74cb8"/>
    <p:sldId xmlns:r="http://schemas.openxmlformats.org/officeDocument/2006/relationships" id="260" r:id="R960be949cd794889"/>
    <p:sldId xmlns:r="http://schemas.openxmlformats.org/officeDocument/2006/relationships" id="261" r:id="Rbf9eb20d46ba4e77"/>
    <p:sldId xmlns:r="http://schemas.openxmlformats.org/officeDocument/2006/relationships" id="262" r:id="R6f7034ed3c7a40f0"/>
    <p:sldId xmlns:r="http://schemas.openxmlformats.org/officeDocument/2006/relationships" id="263" r:id="R0c1b1c5ef44f4703"/>
    <p:sldId xmlns:r="http://schemas.openxmlformats.org/officeDocument/2006/relationships" id="264" r:id="R716fdb0b78ac46b3"/>
    <p:sldId xmlns:r="http://schemas.openxmlformats.org/officeDocument/2006/relationships" id="265" r:id="R7cc900d3da4c49ae"/>
    <p:sldId xmlns:r="http://schemas.openxmlformats.org/officeDocument/2006/relationships" id="266" r:id="Ra8ae1d7a14de4df2"/>
    <p:sldId xmlns:r="http://schemas.openxmlformats.org/officeDocument/2006/relationships" id="267" r:id="Rf97ca93dcfe94b42"/>
    <p:sldId xmlns:r="http://schemas.openxmlformats.org/officeDocument/2006/relationships" id="268" r:id="R726047245e2442c6"/>
    <p:sldId xmlns:r="http://schemas.openxmlformats.org/officeDocument/2006/relationships" id="269" r:id="R3842398b591149b7"/>
    <p:sldId xmlns:r="http://schemas.openxmlformats.org/officeDocument/2006/relationships" id="270" r:id="Rfbcd689c8f4e4a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765e308a5457a" /><Relationship Type="http://schemas.openxmlformats.org/officeDocument/2006/relationships/slideMaster" Target="/ppt/slideMasters/slideMaster1.xml" Id="R6eecb4f5c5dd4b58" /><Relationship Type="http://schemas.openxmlformats.org/officeDocument/2006/relationships/notesMaster" Target="/ppt/notesMasters/notesMaster1.xml" Id="Re8bddf7223624b17" /><Relationship Type="http://schemas.openxmlformats.org/officeDocument/2006/relationships/presProps" Target="/ppt/presProps.xml" Id="R91abab52cb164243" /><Relationship Type="http://schemas.openxmlformats.org/officeDocument/2006/relationships/tableStyles" Target="/ppt/tableStyles.xml" Id="Ra0d62eef24104c52" /><Relationship Type="http://schemas.openxmlformats.org/officeDocument/2006/relationships/slide" Target="/ppt/slides/slide1.xml" Id="R268559e99b214b86" /><Relationship Type="http://schemas.openxmlformats.org/officeDocument/2006/relationships/slide" Target="/ppt/slides/slide2.xml" Id="R410bd060d6024468" /><Relationship Type="http://schemas.openxmlformats.org/officeDocument/2006/relationships/slide" Target="/ppt/slides/slide3.xml" Id="R1f31dcbaea804373" /><Relationship Type="http://schemas.openxmlformats.org/officeDocument/2006/relationships/slide" Target="/ppt/slides/slide4.xml" Id="Ra118ab0f0ab74cb8" /><Relationship Type="http://schemas.openxmlformats.org/officeDocument/2006/relationships/slide" Target="/ppt/slides/slide5.xml" Id="R960be949cd794889" /><Relationship Type="http://schemas.openxmlformats.org/officeDocument/2006/relationships/slide" Target="/ppt/slides/slide6.xml" Id="Rbf9eb20d46ba4e77" /><Relationship Type="http://schemas.openxmlformats.org/officeDocument/2006/relationships/slide" Target="/ppt/slides/slide7.xml" Id="R6f7034ed3c7a40f0" /><Relationship Type="http://schemas.openxmlformats.org/officeDocument/2006/relationships/slide" Target="/ppt/slides/slide8.xml" Id="R0c1b1c5ef44f4703" /><Relationship Type="http://schemas.openxmlformats.org/officeDocument/2006/relationships/slide" Target="/ppt/slides/slide9.xml" Id="R716fdb0b78ac46b3" /><Relationship Type="http://schemas.openxmlformats.org/officeDocument/2006/relationships/slide" Target="/ppt/slides/slide10.xml" Id="R7cc900d3da4c49ae" /><Relationship Type="http://schemas.openxmlformats.org/officeDocument/2006/relationships/slide" Target="/ppt/slides/slide11.xml" Id="Ra8ae1d7a14de4df2" /><Relationship Type="http://schemas.openxmlformats.org/officeDocument/2006/relationships/slide" Target="/ppt/slides/slide12.xml" Id="Rf97ca93dcfe94b42" /><Relationship Type="http://schemas.openxmlformats.org/officeDocument/2006/relationships/slide" Target="/ppt/slides/slide13.xml" Id="R726047245e2442c6" /><Relationship Type="http://schemas.openxmlformats.org/officeDocument/2006/relationships/slide" Target="/ppt/slides/slide14.xml" Id="R3842398b591149b7" /><Relationship Type="http://schemas.openxmlformats.org/officeDocument/2006/relationships/slide" Target="/ppt/slides/slide15.xml" Id="Rfbcd689c8f4e4a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60f4494594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076e9912e64b12" /><Relationship Type="http://schemas.openxmlformats.org/officeDocument/2006/relationships/notesMaster" Target="/ppt/notesMasters/notesMaster1.xml" Id="Rf09e17027dc8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defef57ff46bd" /><Relationship Type="http://schemas.openxmlformats.org/officeDocument/2006/relationships/notesMaster" Target="/ppt/notesMasters/notesMaster1.xml" Id="R43ccd7efff354e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dfe7b9808f4189" /><Relationship Type="http://schemas.openxmlformats.org/officeDocument/2006/relationships/notesMaster" Target="/ppt/notesMasters/notesMaster1.xml" Id="R7072b3d07e934f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691ec560e746fa" /><Relationship Type="http://schemas.openxmlformats.org/officeDocument/2006/relationships/notesMaster" Target="/ppt/notesMasters/notesMaster1.xml" Id="R227002e06b33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88511d88f74c54" /><Relationship Type="http://schemas.openxmlformats.org/officeDocument/2006/relationships/notesMaster" Target="/ppt/notesMasters/notesMaster1.xml" Id="R9d4defd9d41345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90d387c64f421a" /><Relationship Type="http://schemas.openxmlformats.org/officeDocument/2006/relationships/notesMaster" Target="/ppt/notesMasters/notesMaster1.xml" Id="Rc0611b6bc53e4c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fd7e6f36854563" /><Relationship Type="http://schemas.openxmlformats.org/officeDocument/2006/relationships/notesMaster" Target="/ppt/notesMasters/notesMaster1.xml" Id="Rf33c524dd33044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3ca3b601564ea1" /><Relationship Type="http://schemas.openxmlformats.org/officeDocument/2006/relationships/notesMaster" Target="/ppt/notesMasters/notesMaster1.xml" Id="Rc6eabd14237c44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9e53bfff2b46bb" /><Relationship Type="http://schemas.openxmlformats.org/officeDocument/2006/relationships/notesMaster" Target="/ppt/notesMasters/notesMaster1.xml" Id="Rceedc9f061fb40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76236e34454b62" /><Relationship Type="http://schemas.openxmlformats.org/officeDocument/2006/relationships/notesMaster" Target="/ppt/notesMasters/notesMaster1.xml" Id="R8e48fa1a457145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1f9f3059c4407e" /><Relationship Type="http://schemas.openxmlformats.org/officeDocument/2006/relationships/notesMaster" Target="/ppt/notesMasters/notesMaster1.xml" Id="R8711df9333f540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7e164bcac54e6b" /><Relationship Type="http://schemas.openxmlformats.org/officeDocument/2006/relationships/notesMaster" Target="/ppt/notesMasters/notesMaster1.xml" Id="Rd34b5fc0138442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4929a9543d49ae" /><Relationship Type="http://schemas.openxmlformats.org/officeDocument/2006/relationships/notesMaster" Target="/ppt/notesMasters/notesMaster1.xml" Id="R5d13ef4e3c5140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c27e8731a24214" /><Relationship Type="http://schemas.openxmlformats.org/officeDocument/2006/relationships/notesMaster" Target="/ppt/notesMasters/notesMaster1.xml" Id="R54d6321fd0c042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7ce9144c7f463f" /><Relationship Type="http://schemas.openxmlformats.org/officeDocument/2006/relationships/notesMaster" Target="/ppt/notesMasters/notesMaster1.xml" Id="R3dfea912146e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docs/CASE-STUDY.md; evidence/baseline/inventory.txt; baseline/application-tests.txt.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docs/diagrams/baseline.svg; evidence/baseline/inventory.txt and peer-scan.txt. No route, bridge or NAT to the home LAN or Internet. SSH effective policy was permissive, but no usable account password was provisioned.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evidence/baseline/inventory.txt; peer-scan.txt; admin-key-access.txt; application-tests.txt. Open-port counts concern only the specified TCP ports.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docs/RISK-ASSESSMENT.md. Priorities are engineering judgments, not vulnerability scores or evidence of compromise.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docs/DECISIONS.md. The dedicated SSH daemon and namespace firewall are specific to the isolated lab. A real multi-user app needs an agreed access and TLS design.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hardening/systemd/cedarfield.service; hardening/ssh/sshd_config; firewall configuration; evidence/hardened/inventory.txt. Required diagrams are native editable slide objects.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evidence/baseline/peer-scan.txt; hardened/peer-scan.txt; firewall-denial-test.txt. nmap -sT against our isolated server only. This is not a full TCP/UDP or physical network assessment. The 19090 listener was temporary and removed.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evidence/baseline/inventory.txt; hardened/process-and-permission-denial.txt; hardened/inventory.txt. Actual running process UID 999, GID 989, CapEff 0000000000000000 and NoNewPrivs 1. nobody received Permission denied when reading config. Root/kernel remain trusted.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baseline/admin-key-access.txt; hardened/admin-key-access.txt; ssh-tunnel-health.txt; fail2ban-event-test.txt. Four failed-key events produced one actual ban. The peer was deliberately unbanned after the test; intended key access then succeeded. No public system was tested.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evidence/hardened/health-log.txt; update-policy.txt; time-sync.txt; inventory.txt. apt timers were active and security policy effective. Future patch cycles and off-host alert delivery were not observed. Health check interval is configured as five minutes.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evidence/hardened/final-verification.txt (2026-10-05T15:13:10Z); application-tests.txt; backup.txt; reapply.txt; rollback-exercise.txt; reharden-after-rollback.txt. The six app tests execute in a separate test process; runtime host checks cover the service. CI does not apply hardening to a host.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operations/rollback.sh; operations/backup.sh; docs/RUNBOOK.md; evidence/hardened/rollback-exercise.txt and reharden-after-rollback.txt. Application-only rollback restored prior service/config and preserved SSH/firewall restrictions and private config permissions. Baseline app runs as root temporarily; immediately re-harden. No disaster recovery or recovery-time claim.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docs/CASE-STUDY.md; docs/DECISIONS.md; evidence/README.md. The Proxmox target was unavailable through authorized access; the task was completed on existing free local WSL2 compute. No paid infrastructure created.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docs/MAINTENANCE.md. Proposed commercial pathway, not an existing client contract. Tasks, cadence, hours and response expectations must be agreed. No 24/7 coverage or production SLA is implied.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evidence/README.md; docs/CASE-STUDY.md; docs/RUNBOOK.md; docs/MAINTENANCE.md. No testimonials, production deployment or paid-client claims. All runtime results are limited to the recorded isolated local lab.</a:t>
            </a:r>
          </a:p>
          <a:p xmlns:a="http://schemas.openxmlformats.org/drawingml/2006/main">
            <a:r>
              <a:t>Executed 2026-10-05 in local Ubuntu 24.04 / WSL2, with isolated owned server/client namespaces. This is a synthetic engagement, not paid client work. Evidence repository: https://github.com/Shemarhn/cedarfield-linux-operations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0ca91d1d7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d6ec064424184" /><Relationship Type="http://schemas.openxmlformats.org/officeDocument/2006/relationships/slideLayout" Target="/ppt/slideLayouts/slideLayout1.xml" Id="R8c90815b25e146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0815b25e146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064e401ed4968" /><Relationship Type="http://schemas.openxmlformats.org/officeDocument/2006/relationships/notesSlide" Target="/ppt/notesSlides/notesSlide1.xml" Id="Ree047ad32640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fca8ed1d94732" /><Relationship Type="http://schemas.openxmlformats.org/officeDocument/2006/relationships/notesSlide" Target="/ppt/notesSlides/notesSlide2.xml" Id="Rbec8a860dc7e4d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ac49a84694497" /><Relationship Type="http://schemas.openxmlformats.org/officeDocument/2006/relationships/notesSlide" Target="/ppt/notesSlides/notesSlide3.xml" Id="R487b614d26be41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9fa652c5d454b" /><Relationship Type="http://schemas.openxmlformats.org/officeDocument/2006/relationships/notesSlide" Target="/ppt/notesSlides/notesSlide4.xml" Id="R5fee3e1db3464b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dd726d2c34f0d" /><Relationship Type="http://schemas.openxmlformats.org/officeDocument/2006/relationships/notesSlide" Target="/ppt/notesSlides/notesSlide5.xml" Id="R746133310a8b46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3b90656b24446" /><Relationship Type="http://schemas.openxmlformats.org/officeDocument/2006/relationships/notesSlide" Target="/ppt/notesSlides/notesSlide6.xml" Id="R723f219ef61942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8d687270b44f7" /><Relationship Type="http://schemas.openxmlformats.org/officeDocument/2006/relationships/notesSlide" Target="/ppt/notesSlides/notesSlide7.xml" Id="R323bca72568b47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6a4a356bf4033" /><Relationship Type="http://schemas.openxmlformats.org/officeDocument/2006/relationships/notesSlide" Target="/ppt/notesSlides/notesSlide8.xml" Id="R7f2ab904d37844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ced106c7c4a31" /><Relationship Type="http://schemas.openxmlformats.org/officeDocument/2006/relationships/notesSlide" Target="/ppt/notesSlides/notesSlide9.xml" Id="R004b59129a8144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799ff3c924b38" /><Relationship Type="http://schemas.openxmlformats.org/officeDocument/2006/relationships/notesSlide" Target="/ppt/notesSlides/notesSlide10.xml" Id="Rcec9ed67386542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0ebc6056a42d5" /><Relationship Type="http://schemas.openxmlformats.org/officeDocument/2006/relationships/notesSlide" Target="/ppt/notesSlides/notesSlide11.xml" Id="Raab920cd282b43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9aa1fa88e420a" /><Relationship Type="http://schemas.openxmlformats.org/officeDocument/2006/relationships/notesSlide" Target="/ppt/notesSlides/notesSlide12.xml" Id="Re5746c221aad46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2deae870641ad" /><Relationship Type="http://schemas.openxmlformats.org/officeDocument/2006/relationships/notesSlide" Target="/ppt/notesSlides/notesSlide13.xml" Id="Rb596c8e55a734c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ce40c12654b4f" /><Relationship Type="http://schemas.openxmlformats.org/officeDocument/2006/relationships/notesSlide" Target="/ppt/notesSlides/notesSlide14.xml" Id="Rf174d888eb2f49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2fc5ffe63496f" /><Relationship Type="http://schemas.openxmlformats.org/officeDocument/2006/relationships/notesSlide" Target="/ppt/notesSlides/notesSlide15.xml" Id="R732bf9dbc3354c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19E8D-BB44-4163-9C33-32566A87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9DDC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9DDCA"/>
                </a:solidFill>
                <a:latin typeface="Segoe UI"/>
                <a:ea typeface="Segoe UI"/>
                <a:cs typeface="Segoe UI"/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72AEF-FAAA-4601-9C13-39244BA9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Cedarfield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Linux hardening &amp;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4EF61-B357-4E87-AAAB-50F2AA0C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D4D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BED4D8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98DDA-9B94-44AE-BCAB-68151A3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9DDC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9DDCA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A8ED7-AD51-483E-B4C4-7E9F23AE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working application needed a safer, operable host.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8D764-5A77-4D7A-BACC-60D504E8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0E0E3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D0E0E3"/>
                </a:solidFill>
                <a:latin typeface="Segoe UI"/>
                <a:ea typeface="Segoe UI"/>
                <a:cs typeface="Segoe UI"/>
              </a:rPr>
              <a:t>Reduce exposure and privilege. Preserve the workload.</a:t>
            </a:r>
          </a:p>
          <a:p xmlns:a="http://schemas.openxmlformats.org/drawingml/2006/main">
            <a:pPr>
              <a:defRPr sz="2175" b="0">
                <a:solidFill>
                  <a:srgbClr val="D0E0E3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D0E0E3"/>
                </a:solidFill>
                <a:latin typeface="Segoe UI"/>
                <a:ea typeface="Segoe UI"/>
                <a:cs typeface="Segoe UI"/>
              </a:rPr>
              <a:t>Verify each change and leave a maintenance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0A8E6-A3AF-4206-AAD0-F88FD204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9DDCA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79DDCA"/>
                </a:solidFill>
                <a:latin typeface="Segoe UI"/>
                <a:ea typeface="Segoe UI"/>
                <a:cs typeface="Segoe UI"/>
              </a:rPr>
              <a:t>Shemar Marks  •  5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40680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78EAB-2B5C-4A55-A771-A1567C2A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BASELINE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43DD2-CD01-4471-BBB6-B6689BF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Original server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FAF20-85DC-426B-BE30-523A673F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D5400-D5B6-4996-9217-8FFD50A3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D0F90-D016-4683-839E-4D6DDA07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One Ubuntu guest • linked server/client namespaces • no public ingress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4BCB2-043A-43F5-9E84-5583DBA4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6D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Owned peer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192.0.2.2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99080-3DC1-4ACB-8659-74B9CD5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2412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6D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SSH :22222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Permissive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DA242-530D-43DA-9BD4-8962492C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3862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6D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Extra HTTP :9099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Unnecessary listener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010C1-509C-4E7F-AF36-85AAD14E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3200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6D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Python + SQLite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Root • loopback :8090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3 synthetic jobs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86100" y="3048000"/>
            <a:ext cx="1057275" cy="547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6D70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3595688"/>
            <a:ext cx="1057275" cy="1166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6D70"/>
            </a:solidFill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77125" y="3048000"/>
            <a:ext cx="90487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6D70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87D5E-9A91-487C-B979-624A7452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Root-owned configuration was readable by all local users (0644).</a:t>
            </a:r>
          </a:p>
        </p:txBody>
      </p:sp>
    </p:spTree>
    <p:extLst>
      <p:ext uri="{BB962C8B-B14F-4D97-AF65-F5344CB8AC3E}">
        <p14:creationId xmlns:p14="http://schemas.microsoft.com/office/powerpoint/2010/main" val="438090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8942E-8A73-44D1-84E4-E941CAF5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F438D-4503-49A3-8921-B633A15D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Baseline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A06BD-C1D4-4320-812D-66103DB4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6EE7F-5895-43B3-AB73-1938C424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Observed starting state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Workload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Health ok; 3 jobs; six application tests 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Process &amp; configuration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App ran as root; runtime configuration 0644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Remote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PasswordAuthentication yes; PermitRootLogin 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Network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SSH and extra HTTP open from the owned peer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UFW, security-update timers and Fail2ban inactive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52907-3749-48E5-ACD0-865E833C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Functionality was the constraint: hardening had to preserve required access and data.</a:t>
            </a:r>
          </a:p>
        </p:txBody>
      </p:sp>
    </p:spTree>
    <p:extLst>
      <p:ext uri="{BB962C8B-B14F-4D97-AF65-F5344CB8AC3E}">
        <p14:creationId xmlns:p14="http://schemas.microsoft.com/office/powerpoint/2010/main" val="691843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A7806-7A7B-4115-953F-216A90D6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BUSINESS RISKS &amp; TREATMENTS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2646B-1E0B-4725-A18F-C7F8FB92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Risk register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1B086-878C-4612-A1CC-D8424458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EE085-B1C6-4E2A-B4AA-5D91A67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51792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Business consequence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Treatment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</a:tr>
              <a:tr h="51792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R1 Password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Guessing or reused credentials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Verified keys; disable root/password SSH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R2 Excess privilege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App fault reaches more of the host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Dedicated user; systemd restrictions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51792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R3 Undefined exposure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Unneeded services become reachable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Remove extra service; default-deny UFW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R4 Loose configuration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Unintended local credential access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Separate, root-owned 0600 config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51792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R5 Missing patch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Security fixes remain unapplied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Security-update policy; reboot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92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R6 Poor detection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Failures escape operational review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Journald, health logs and Fail2ban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51792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R7 Change regression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Hardening disrupts the workload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Pre/post checks; backup and rollback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398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C4C5B-BEBA-4FF2-B51A-8C6A5A6B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CONTROLLED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57EBC-4715-46A0-8146-3FADA7BB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Engineering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D9476-0CA0-4402-9CF4-4163F342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F8DEA-7E60-4337-B5A7-9349C466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DF9F7-E185-4015-9B26-8C58AEB0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Verify key access before disabling passwords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0737B-2B78-4903-BA89-9921407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Keep required administration available through each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F205A-1E04-458D-8FF4-31CE878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Keep the application on loopback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79047-688D-494E-8D81-284C7B79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Reach it through an explicit SSH forward; expose only the admin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2928F-7394-4AB8-AEBC-781DEDCF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Separate privilege, code, data and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A0A58-C966-438E-840A-288F51B3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Root owns code/config; the dedicated app user writes only its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EBE09-B023-49E0-B421-779494A2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Make backup and rollback part of the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46136-21C8-4FD9-9150-12E8DD00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Preserve the application and immediately re-harden after the rollback test.</a:t>
            </a:r>
          </a:p>
        </p:txBody>
      </p:sp>
    </p:spTree>
    <p:extLst>
      <p:ext uri="{BB962C8B-B14F-4D97-AF65-F5344CB8AC3E}">
        <p14:creationId xmlns:p14="http://schemas.microsoft.com/office/powerpoint/2010/main" val="1158858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83D6D-4B39-436D-A6D7-26EB55A0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31B74-8D88-451F-B71E-8C626242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Hardened server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EC8A0-B226-4552-95F4-D503EEDC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FAA64-0A1F-4428-A96D-3BA392C6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2546B-8C39-4149-95AA-F4214832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Explicit access boundary • dedicated service identity • controlled writable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5C593-7D12-4A4F-847F-0FC8C1BC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6D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Authorized peer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Key 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DD1C9-74F7-4338-837B-D1C6BBA5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6D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UFW + Fail2ban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SSH :22222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A438A-BC69-4240-85B8-3108F9B5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3143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6D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App • cedarfield UID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Loopback :8090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Restricted systemd unit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54090-E9E9-4077-A362-BFE09CB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625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6D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SQLite state</a:t>
            </a:r>
          </a:p>
          <a:p xmlns:a="http://schemas.openxmlformats.org/drawingml/2006/main">
            <a:pPr algn="ctr"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0750 directory / 0600 files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86100" y="3690938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6D70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429500" y="3405188"/>
            <a:ext cx="10001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6D70"/>
            </a:solidFill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001250" y="4238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6D70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F8E03-7F73-4993-9ED9-0D8187A5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SSH forwarding permits the app endpoint. Other inbound traffic is denied.</a:t>
            </a:r>
          </a:p>
        </p:txBody>
      </p:sp>
    </p:spTree>
    <p:extLst>
      <p:ext uri="{BB962C8B-B14F-4D97-AF65-F5344CB8AC3E}">
        <p14:creationId xmlns:p14="http://schemas.microsoft.com/office/powerpoint/2010/main" val="2004496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06E6A-4313-4E7E-9954-C66B66EE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OBSERVED PEER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C78EE-6DE1-4174-9F0C-976F775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Network exposure before &amp; after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C3EA2-8D66-4F9A-A627-FAAA80FA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228A0-65FD-4150-BBFC-CE17FA96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143250"/>
                <a:gridCol w="4305300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Tested port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Hardened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22222 / SSH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Open, intended admin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9099 / extra HTTP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Filtered; service removed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8090 / application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Closed from peer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Filtered; loopback-only 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19090 / harmless test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Not tested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Live listener denied by firewall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EBA0E-3D1C-4661-B50B-3106C4C0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2 → 1 open ports among 22222, 8090 and 9099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03939-02D5-46B3-95AA-41B8762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The scan covers these ports and this isolated access path.</a:t>
            </a:r>
          </a:p>
        </p:txBody>
      </p:sp>
    </p:spTree>
    <p:extLst>
      <p:ext uri="{BB962C8B-B14F-4D97-AF65-F5344CB8AC3E}">
        <p14:creationId xmlns:p14="http://schemas.microsoft.com/office/powerpoint/2010/main" val="1982601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3142F-CF56-4112-BD97-222ED939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RUNTIME ENFORCEMENT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434B3-92F6-4C46-A564-D5BC353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Application privilege before &amp; after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9718E-6126-46F9-9F06-9B6E3CB3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EAD05-6BCD-44FB-8F61-25625280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857500"/>
                <a:gridCol w="4972050"/>
              </a:tblGrid>
              <a:tr h="627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Observed after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</a:tr>
              <a:tr h="627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Service 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root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cedarfield • UID 999 / GID 989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Effective capabilities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Root process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0; NoNewPrivs = 1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27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Systemd restrictions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Minimal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PrivateTmp; strict system; protected home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Runtime configuration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root:root • 0644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root:root • 0600; other-user read denied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27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Writable application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Broad root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Scoped state directory; private SQLite files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0964A-1169-497B-8B42-57BA62D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Lower privilege reduces reachable host resources; it does not guarantee containment.</a:t>
            </a:r>
          </a:p>
        </p:txBody>
      </p:sp>
    </p:spTree>
    <p:extLst>
      <p:ext uri="{BB962C8B-B14F-4D97-AF65-F5344CB8AC3E}">
        <p14:creationId xmlns:p14="http://schemas.microsoft.com/office/powerpoint/2010/main" val="587092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8A9C9-A10B-40B4-9C83-7F87F508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ADMINISTRATION PRESERVED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45423-F621-4185-9DD1-9227F8AB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Access-control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92E45-4402-46DE-A669-2AD24285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1590B-9905-4772-B40D-704313A9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8EB27-FC7A-44B1-8017-CD0D553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Key access succeeded before and after the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F27C8-82DD-4076-9DEA-0BC79DC4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Effective SSH: passwords disabled, root login disabled, publickey required.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7BCEE-85B3-4C8F-8F7D-1E044C9F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The permitted application forward returned health 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EE1D-0455-4958-B928-2E9D6BB7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Administration and required application access remained available.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79716-78EA-40C4-BFE5-4AB765A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A safe failed-key test triggered a real ban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0022B-4EE6-49FE-B6EA-61E70AE1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Fail2ban recorded 4 failures / 1 ban; UFW rejection blocked peer SSH.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2A79A-DC2A-4F74-8C0C-BFA8DDE8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Controlled unban restored legitimate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A88C3-3108-4581-8A83-BAFB8AA5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The test exercised both the protection and the operator response.</a:t>
            </a:r>
          </a:p>
        </p:txBody>
      </p:sp>
    </p:spTree>
    <p:extLst>
      <p:ext uri="{BB962C8B-B14F-4D97-AF65-F5344CB8AC3E}">
        <p14:creationId xmlns:p14="http://schemas.microsoft.com/office/powerpoint/2010/main" val="1901243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2762C-2E67-4B15-B95F-7F042134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27AD9-D815-47A6-B8C0-04F902F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Logging &amp; security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43A21-7F46-4AB9-9724-FB2152B6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FE51F-827E-4CB7-AF91-135F56C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048125"/>
                <a:gridCol w="330517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Configured / observed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purpose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Boundary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Journald + app logs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Review service and authentication events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Local to this guest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Health timer and successful log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Record application availability checks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No off-host alert delivery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Security-update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Automatically select security origins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No future patch-cycle claim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Time service active / synchronized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Keep log ordering usable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No independent clock audit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No automatic reboot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Review restart needs in a maintenance window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Guest must stay running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8893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D4717-E8EE-4FA7-A46A-99C16E79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OBSERVED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18270-9280-4EAB-8F2A-A9D77CF4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Verification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79C8C-9C0A-4486-81B4-C82376A4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547C1-78DE-4244-8071-79A96DCB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A5FB0-ED35-46F9-8F0E-8B4822C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0 failures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0A316-1648-410A-9CE4-8679C50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Final live host verifier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206AE-20CF-43D7-910A-861D69F1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Health ok • original 3 jobs preserved</a:t>
            </a:r>
          </a:p>
          <a:p xmlns:a="http://schemas.openxmlformats.org/drawingml/2006/main">
            <a:pPr>
              <a:defRPr sz="21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Required service/access/firewall controls passed</a:t>
            </a:r>
          </a:p>
          <a:p xmlns:a="http://schemas.openxmlformats.org/drawingml/2006/main">
            <a:pPr>
              <a:defRPr sz="21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Six application tests passed before and 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B94F5-9D41-4ABC-BE7F-94A8E9E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Local SQLite backup: 3 jobs, integrity ok. Reapply and rollback were exercised.</a:t>
            </a:r>
          </a:p>
        </p:txBody>
      </p:sp>
    </p:spTree>
    <p:extLst>
      <p:ext uri="{BB962C8B-B14F-4D97-AF65-F5344CB8AC3E}">
        <p14:creationId xmlns:p14="http://schemas.microsoft.com/office/powerpoint/2010/main" val="1667026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39414-8AFF-4E1C-818D-BFC31034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RECOVERY OF A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3D22F-2789-41B6-8605-8CE7AB4D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Rollback &amp; operational handover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9C334-76FB-49FB-9A36-6E620E3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F2CDA-C858-4A8B-B251-83562C2D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97C36-8E99-42CA-809F-0B1BCF75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Before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EBE2C-E75B-4770-9E29-20108B07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Save app configuration/service and create an integrity-checked SQLite snapshot.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C8614-48B1-44F8-A2FA-E17EED58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If the app regresses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211FD-94A4-4330-9788-1E61EA1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Restore the previous app unit/config while keeping access and firewall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F3235-8335-4781-A72E-579D2787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Observed exercise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5530-C778-48FF-B3A3-1F31D22F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Rollback returned health ok; re-hardening restored all final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7C184-D19F-469E-A41C-DC526D7F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Handover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6FE23-0ABF-4527-974C-D65E198F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Runbook covers access, service, logs, updates, firewall, bans, backup and rollback.</a:t>
            </a:r>
          </a:p>
        </p:txBody>
      </p:sp>
    </p:spTree>
    <p:extLst>
      <p:ext uri="{BB962C8B-B14F-4D97-AF65-F5344CB8AC3E}">
        <p14:creationId xmlns:p14="http://schemas.microsoft.com/office/powerpoint/2010/main" val="15784802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3C819-9726-408F-AB5B-D7133B67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EXPLICIT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9725D-EB7E-4690-A67B-EF589DF8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Residual risks &amp;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54747-8A11-4ECA-8DB0-0203CED6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09BEA-CD7B-4CF1-B173-65201388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Limit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Implication / next step</a:t>
                      </a:r>
                    </a:p>
                  </a:txBody>
                  <a:tcPr marL="91440" marR="91440" marT="45720" marB="45720">
                    <a:solidFill>
                      <a:srgbClr val="102E38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Ubuntu on WSL2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Proxmox and physical NIC behavior not tested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Same-disk backup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Add independent storage and restore drills for real disaster recovery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Local health logging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Agree an off-host alert route and operator response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Standard-library HTTP app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deployment needs TLS, identities and a suitable server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One isolated exercise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E38"/>
                          </a:solidFill>
                          <a:latin typeface="Segoe UI"/>
                          <a:ea typeface="Segoe UI"/>
                          <a:cs typeface="Segoe UI"/>
                        </a:rPr>
                        <a:t>No SLA, compliance or repeatability guarantee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0D295-A0DC-432C-AE59-2DCF9A76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The evidence supports specific tested controls, not universal security assurance.</a:t>
            </a:r>
          </a:p>
        </p:txBody>
      </p:sp>
    </p:spTree>
    <p:extLst>
      <p:ext uri="{BB962C8B-B14F-4D97-AF65-F5344CB8AC3E}">
        <p14:creationId xmlns:p14="http://schemas.microsoft.com/office/powerpoint/2010/main" val="8926395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19BFC-3F0D-43D7-B87D-32F6524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OPTIONAL CONTINUING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F9AD5-3884-4ECA-B2B4-E10BF701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Recurring infrastructure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74FF1-26CA-42B7-84A8-2A37D1EC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6A7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56A70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81AD7-4684-4126-9387-CD8B0176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EF034-0E94-4293-90B0-75DB79F0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Review the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39657-BF04-4F8B-8A93-16E2D83D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Health, authentication events, Fail2ban, capacity and update/reboot needs.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F02E1-AB35-486E-BA8B-67D8AC7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Verify protection and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3F031-B2DC-47EC-9DAA-9C26253F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Check permissions, required ports, backup integrity and agreed restore drills.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D98A6-41BC-442B-A185-6D7F44B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Maintain and 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F61C0-AB86-4823-B3A6-F6EC6160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Apply agreed changes, troubleshoot incidents and update the runbook.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DB91B-49D2-4554-B190-12984E80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6D7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6D70"/>
                </a:solidFill>
                <a:latin typeface="Segoe UI"/>
                <a:ea typeface="Segoe UI"/>
                <a:cs typeface="Segoe UI"/>
              </a:rPr>
              <a:t>Report clearly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6DC33-CC54-4840-8041-4598C6CB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E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02E38"/>
                </a:solidFill>
                <a:latin typeface="Segoe UI"/>
                <a:ea typeface="Segoe UI"/>
                <a:cs typeface="Segoe UI"/>
              </a:rPr>
              <a:t>State reviewed items, observed results, changes, risks and next priorities.</a:t>
            </a:r>
          </a:p>
        </p:txBody>
      </p:sp>
    </p:spTree>
    <p:extLst>
      <p:ext uri="{BB962C8B-B14F-4D97-AF65-F5344CB8AC3E}">
        <p14:creationId xmlns:p14="http://schemas.microsoft.com/office/powerpoint/2010/main" val="764239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974F7-F414-432B-89F3-5F8115F0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9DDC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79DDCA"/>
                </a:solidFill>
                <a:latin typeface="Segoe UI"/>
                <a:ea typeface="Segoe UI"/>
                <a:cs typeface="Segoe UI"/>
              </a:rPr>
              <a:t>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13168-ED2C-4E85-BAFC-E3398D69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hardened, operable application 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78B90-9266-425D-BC30-E1845023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D4D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BED4D8"/>
                </a:solidFill>
                <a:latin typeface="Segoe UI"/>
                <a:ea typeface="Segoe UI"/>
                <a:cs typeface="Segoe UI"/>
              </a:rPr>
              <a:t>CEDARFIELD  /  SYNTHETIC PORTFOLIO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B40ED-7B82-48C3-9412-309FC06D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9DDC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9DDCA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CB3F0-F9B2-4FDE-8D8A-FC99B759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Reduced tested exposure. Lower service privilege.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Stronger access. Preserved application functionality.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B8A0E-A99B-488C-ACDE-460A0E8D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0E0E3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D0E0E3"/>
                </a:solidFill>
                <a:latin typeface="Segoe UI"/>
                <a:ea typeface="Segoe UI"/>
                <a:cs typeface="Segoe UI"/>
              </a:rPr>
              <a:t>Delivered: configuration, defensive scripts, real evidence,</a:t>
            </a:r>
          </a:p>
          <a:p xmlns:a="http://schemas.openxmlformats.org/drawingml/2006/main">
            <a:pPr>
              <a:defRPr sz="2100" b="0">
                <a:solidFill>
                  <a:srgbClr val="D0E0E3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D0E0E3"/>
                </a:solidFill>
                <a:latin typeface="Segoe UI"/>
                <a:ea typeface="Segoe UI"/>
                <a:cs typeface="Segoe UI"/>
              </a:rPr>
              <a:t>risk register, diagrams, rollback and maintenance runbooks.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5176D-BFC2-4B1F-B84E-7ECEEC7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9DDC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79DDCA"/>
                </a:solidFill>
                <a:latin typeface="Segoe UI"/>
                <a:ea typeface="Segoe UI"/>
                <a:cs typeface="Segoe UI"/>
              </a:rPr>
              <a:t>github.com/Shemarhn/cedarfield-linux-operations</a:t>
            </a:r>
          </a:p>
          <a:p xmlns:a="http://schemas.openxmlformats.org/drawingml/2006/main">
            <a:pPr>
              <a:defRPr sz="1800" b="0">
                <a:solidFill>
                  <a:srgbClr val="79DDC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79DDCA"/>
                </a:solidFill>
                <a:latin typeface="Segoe UI"/>
                <a:ea typeface="Segoe UI"/>
                <a:cs typeface="Segoe UI"/>
              </a:rPr>
              <a:t>shemarmarks.tech@gmail.com</a:t>
            </a:r>
          </a:p>
        </p:txBody>
      </p:sp>
    </p:spTree>
    <p:extLst>
      <p:ext uri="{BB962C8B-B14F-4D97-AF65-F5344CB8AC3E}">
        <p14:creationId xmlns:p14="http://schemas.microsoft.com/office/powerpoint/2010/main" val="2071505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2026-10-05T15:38:46.1890000Z</dcterms:created>
  <dcterms:modified xsi:type="dcterms:W3CDTF">2026-10-05T15:38:46.1890000Z</dcterms:modified>
</coreProperties>
</file>